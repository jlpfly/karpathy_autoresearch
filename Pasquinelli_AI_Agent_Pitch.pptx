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B4FF"/>
                </a:solidFill>
              </a:defRPr>
            </a:pPr>
            <a:r>
              <a:t>PASQUINELLI LAB  ·  UC SAN DIEGO  ·  DEPARTMENT OF MOLECULAR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</a:defRPr>
            </a:pPr>
            <a:r>
              <a:t>Your Lab’s Own LLM: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B4FF"/>
                </a:solidFill>
              </a:defRPr>
            </a:pPr>
            <a:r>
              <a:t>An AI Research Agent for miRNA Biology, Aging &amp; RNA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03320"/>
            <a:ext cx="1051560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</a:defRPr>
            </a:pPr>
            <a:r>
              <a:t>Built on Karpathy’s autoresearch framework  •  Amy_Autoresearch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99"/>
                </a:solidFill>
              </a:defRPr>
            </a:pPr>
            <a:r>
              <a:t>github.com/jlpfly/Karpathy_autoresearch  •  Runs on Dell XPS 15 (RTX 3050 Ti)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99"/>
                </a:solidFill>
              </a:defRPr>
            </a:pPr>
            <a:r>
              <a:t>Training corpus: 25 years of Pasquinelli lab publications + the full miRNA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44455"/>
                </a:solidFill>
              </a:defRPr>
            </a:pPr>
            <a:r>
              <a:t>Autoresearch • RAG • Fine-Tuning • Autonomous Agent Loop • miRNA Biology • C. elegans Aging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B59B6"/>
                </a:solidFill>
              </a:defRPr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</a:defRPr>
            </a:pPr>
            <a:r>
              <a:t>Imagine an AI that has read every paper your lab has ever published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43000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42062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B4FF"/>
                </a:solidFill>
              </a:defRPr>
            </a:pPr>
            <a:r>
              <a:t>What this LLM knows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• Every Pasquinelli lab paper from let-7 (2000) through the 2024 aging RNA-seq study</a:t>
            </a:r>
          </a:p>
          <a:p>
            <a:pPr>
              <a:spcBef>
                <a:spcPts val="600"/>
              </a:spcBef>
              <a:defRPr sz="1400" b="0" i="0">
                <a:solidFill>
                  <a:srgbClr val="FFFFFF"/>
                </a:solidFill>
              </a:defRPr>
            </a:pPr>
            <a:r>
              <a:t>• The full miRNA field: TargetScan, miRDB, AGO biology, CLIP/CLASH datasets</a:t>
            </a:r>
          </a:p>
          <a:p>
            <a:pPr>
              <a:spcBef>
                <a:spcPts val="600"/>
              </a:spcBef>
              <a:defRPr sz="1400" b="0" i="0">
                <a:solidFill>
                  <a:srgbClr val="FFFFFF"/>
                </a:solidFill>
              </a:defRPr>
            </a:pPr>
            <a:r>
              <a:t>• C. elegans aging literature, heat-shock recovery, poly(A) tail biology</a:t>
            </a:r>
          </a:p>
          <a:p>
            <a:pPr>
              <a:spcBef>
                <a:spcPts val="600"/>
              </a:spcBef>
              <a:defRPr sz="1400" b="0" i="0">
                <a:solidFill>
                  <a:srgbClr val="FFFFFF"/>
                </a:solidFill>
              </a:defRPr>
            </a:pPr>
            <a:r>
              <a:t>• Your unpublished datasets, protocols, and experimental notes (optional)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486400" cy="42062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E676"/>
                </a:solidFill>
              </a:defRPr>
            </a:pPr>
            <a:r>
              <a:t>What this means for the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00B4FF"/>
                </a:solidFill>
              </a:defRPr>
            </a:pPr>
            <a:r>
              <a:t>“What are the strongest open questions in let-7 biology right now?”</a:t>
            </a:r>
          </a:p>
          <a:p>
            <a:pPr>
              <a:spcBef>
                <a:spcPts val="400"/>
              </a:spcBef>
              <a:defRPr sz="1200" b="0" i="0">
                <a:solidFill>
                  <a:srgbClr val="888899"/>
                </a:solidFill>
              </a:defRPr>
            </a:pPr>
            <a:r>
              <a:t>   → Amy, strategic planning</a:t>
            </a:r>
          </a:p>
          <a:p>
            <a:pPr>
              <a:spcBef>
                <a:spcPts val="400"/>
              </a:spcBef>
              <a:defRPr sz="600" b="0" i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300" b="0" i="1">
                <a:solidFill>
                  <a:srgbClr val="00B4FF"/>
                </a:solidFill>
              </a:defRPr>
            </a:pPr>
            <a:r>
              <a:t>“Design a follow-up experiment for our miR-238 longevity finding.”</a:t>
            </a:r>
          </a:p>
          <a:p>
            <a:pPr>
              <a:spcBef>
                <a:spcPts val="400"/>
              </a:spcBef>
              <a:defRPr sz="1200" b="0" i="0">
                <a:solidFill>
                  <a:srgbClr val="888899"/>
                </a:solidFill>
              </a:defRPr>
            </a:pPr>
            <a:r>
              <a:t>   → Postdoc, experimental design</a:t>
            </a:r>
          </a:p>
          <a:p>
            <a:pPr>
              <a:spcBef>
                <a:spcPts val="400"/>
              </a:spcBef>
              <a:defRPr sz="600" b="0" i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300" b="0" i="1">
                <a:solidFill>
                  <a:srgbClr val="00B4FF"/>
                </a:solidFill>
              </a:defRPr>
            </a:pPr>
            <a:r>
              <a:t>“Explain the ALG-1 vs ALG-2 aging phenotype to me.”</a:t>
            </a:r>
          </a:p>
          <a:p>
            <a:pPr>
              <a:spcBef>
                <a:spcPts val="400"/>
              </a:spcBef>
              <a:defRPr sz="1200" b="0" i="0">
                <a:solidFill>
                  <a:srgbClr val="888899"/>
                </a:solidFill>
              </a:defRPr>
            </a:pPr>
            <a:r>
              <a:t>   → Rotation student, onboarding</a:t>
            </a:r>
          </a:p>
          <a:p>
            <a:pPr>
              <a:spcBef>
                <a:spcPts val="400"/>
              </a:spcBef>
              <a:defRPr sz="600" b="0" i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300" b="0" i="1">
                <a:solidFill>
                  <a:srgbClr val="00B4FF"/>
                </a:solidFill>
              </a:defRPr>
            </a:pPr>
            <a:r>
              <a:t>“What gaps in the aging-miRNA field should our R01 address?”</a:t>
            </a:r>
          </a:p>
          <a:p>
            <a:pPr>
              <a:spcBef>
                <a:spcPts val="400"/>
              </a:spcBef>
              <a:defRPr sz="1200" b="0" i="0">
                <a:solidFill>
                  <a:srgbClr val="888899"/>
                </a:solidFill>
              </a:defRPr>
            </a:pPr>
            <a:r>
              <a:t>   → Grant writing, Significance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06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1C40F"/>
                </a:solidFill>
              </a:defRPr>
            </a:pPr>
            <a:r>
              <a:t>This is not a generic chatbot. It is trained specifically on the body of work most relevant to your research program.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BC9C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</a:defRPr>
            </a:pPr>
            <a:r>
              <a:t>Three layers make this agent work: Corpus • Model • Agent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429768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BC9C"/>
                </a:solidFill>
              </a:defRPr>
            </a:pPr>
            <a: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The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88899"/>
                </a:solidFill>
              </a:defRPr>
            </a:pPr>
            <a:r>
              <a:t>What it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• All Pasquinelli lab papers (2000–2025): ~55 papers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Field-defining papers: Bartel, Ambros, Tuschl labs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PubMed abstracts, PMC full text, GEO metadata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Lab protocols, grant aims, meeting notes (optional)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371600"/>
            <a:ext cx="3474720" cy="429768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B59B6"/>
                </a:solidFill>
              </a:defRPr>
            </a:pPr>
            <a: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The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88899"/>
                </a:solidFill>
              </a:defRPr>
            </a:pPr>
            <a:r>
              <a:t>How it learns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65176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• Base: Llama 3, Mistral, or GPT-4 via API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Method: RAG or supervised fine-tuning on corpus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Hardware: RTX 3050 Ti (already in the lab)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Time to first version: 1–2 days setup + overnight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5" y="1371600"/>
            <a:ext cx="3566160" cy="429768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E676"/>
                </a:solidFill>
              </a:defRPr>
            </a:pPr>
            <a:r>
              <a:t>LAYER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1783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</a:defRPr>
            </a:pPr>
            <a:r>
              <a:t>The Agent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88899"/>
                </a:solidFill>
              </a:defRPr>
            </a:pPr>
            <a:r>
              <a:t>How it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65176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• Reads program.md (your research strategy)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Iterates: reads → extracts → hypothesizes → ranks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Outputs: tables, hypothesis boards, reading queues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Human stays in control: review, redirect, refine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E676"/>
                </a:solidFill>
              </a:defRPr>
            </a:pPr>
            <a:r>
              <a:t>HOW TO 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</a:defRPr>
            </a:pPr>
            <a:r>
              <a:t>Building the Pasquinelli Lab LLM takes one weekend, not one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48840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B4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Set up the environment  (Day 1, ~2 hours)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9748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git clone https://github.com/jlpfly/Karpathy_autoresearch</a:t>
            </a:r>
            <a:br/>
            <a:r>
              <a:t>git checkout Amy_Autoresearch</a:t>
            </a:r>
            <a:br/>
            <a:r>
              <a:t>uv python install 3.11  &amp;&amp;  uv sync  &amp;&amp;  uv run prepare.py</a:t>
            </a:r>
            <a:br/>
            <a:r>
              <a:t>Hardware: Dell XPS 15 with RTX 3050 Ti — already validated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5768" y="1371600"/>
            <a:ext cx="2148840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5496" y="1463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9B59B6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201168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Build the corpus  (Day 1, ~3 hours)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69748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Export PDFs of all Pasquinelli lab papers from PubMed/PMC</a:t>
            </a:r>
            <a:br/>
            <a:r>
              <a:t>Add key field papers (Bartel, Ambros, let-7 foundational work)</a:t>
            </a:r>
            <a:br/>
            <a:r>
              <a:t>Convert to text: pdftotext paper.pdf paper.txt</a:t>
            </a:r>
            <a:br/>
            <a:r>
              <a:t>Place in corpus/ directory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1371600"/>
            <a:ext cx="2148840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1463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ABC9C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201168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Configure the agent  (Day 1, ~1 hour)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269748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Edit program.md to define the agent’s role</a:t>
            </a:r>
            <a:br/>
            <a:r>
              <a:t>Set focus: “You are a research assistant for the Pasquinelli Lab…”</a:t>
            </a:r>
            <a:br/>
            <a:r>
              <a:t>Define output format: tables, ranked lists, hypothesis boards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2904" y="1371600"/>
            <a:ext cx="2148840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631" y="1463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8C00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201168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Run overnight  (Day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269748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uv run train.py   # 5-minute baseline validation</a:t>
            </a:r>
            <a:br/>
            <a:r>
              <a:t>Launch Claude/Codex with program.md — let it iterate</a:t>
            </a:r>
            <a:br/>
            <a:r>
              <a:t>Wake up to a log of experiments and structured outputs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91472" y="1371600"/>
            <a:ext cx="2148840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463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0E676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01168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Query and iterate  (ongoing)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69748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Start asking questions (see example prompt slides)</a:t>
            </a:r>
            <a:br/>
            <a:r>
              <a:t>Refine program.md based on output quality</a:t>
            </a:r>
            <a:br/>
            <a:r>
              <a:t>Add new papers as they are published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8C00"/>
                </a:solidFill>
              </a:defRPr>
            </a:pPr>
            <a:r>
              <a:t>THE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</a:defRPr>
            </a:pPr>
            <a:r>
              <a:t>The quality of the corpus determines the quality of the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0D1A"/>
                </a:solidFill>
              </a:defRPr>
            </a:pPr>
            <a: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0D1A"/>
                </a:solidFill>
              </a:defRPr>
            </a:pPr>
            <a: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3898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0D1A"/>
                </a:solidFill>
              </a:defRPr>
            </a:pPr>
            <a:r>
              <a:t>Papers /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3898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0D1A"/>
                </a:solidFill>
              </a:defRPr>
            </a:pPr>
            <a:r>
              <a:t>Priority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1338560" cy="5029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39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E676"/>
                </a:solidFill>
              </a:defRPr>
            </a:pPr>
            <a:r>
              <a:t>Core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920239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All Pasquinelli lab publications 2000–2025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20239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CCCCC"/>
                </a:solidFill>
              </a:defRPr>
            </a:pPr>
            <a:r>
              <a:t>~55 papers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920239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E676"/>
                </a:solidFill>
              </a:defRPr>
            </a:pPr>
            <a:r>
              <a:t>Essential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95727"/>
            <a:ext cx="11338560" cy="502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41447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E676"/>
                </a:solidFill>
              </a:defRPr>
            </a:pPr>
            <a:r>
              <a:t>Field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441447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Bartel, Ambros, Tuschl landmark miRNA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441447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CCCCC"/>
                </a:solidFill>
              </a:defRPr>
            </a:pPr>
            <a:r>
              <a:t>~30 papers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441447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E676"/>
                </a:solidFill>
              </a:defRPr>
            </a:pPr>
            <a:r>
              <a:t>Essential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16935"/>
            <a:ext cx="11338560" cy="5029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62655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FF"/>
                </a:solidFill>
              </a:defRPr>
            </a:pPr>
            <a:r>
              <a:t>Aging &amp; C. elegans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962655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Kaeberlein, Murphy, Curran aging papers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962655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CCCCC"/>
                </a:solidFill>
              </a:defRPr>
            </a:pPr>
            <a:r>
              <a:t>~20 papers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962655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B4FF"/>
                </a:solidFill>
              </a:defRPr>
            </a:pPr>
            <a: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38144"/>
            <a:ext cx="11338560" cy="502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483863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FF"/>
                </a:solidFill>
              </a:defRPr>
            </a:pPr>
            <a:r>
              <a:t>Poly(A) &amp; Translation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483863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Richter, Gilbert, Wickens PABP/translation papers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483863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CCCCC"/>
                </a:solidFill>
              </a:defRPr>
            </a:pPr>
            <a:r>
              <a:t>~15 papers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483863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B4FF"/>
                </a:solidFill>
              </a:defRPr>
            </a:pPr>
            <a: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59352"/>
            <a:ext cx="11338560" cy="5029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0507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BC9C"/>
                </a:solidFill>
              </a:defRPr>
            </a:pPr>
            <a:r>
              <a:t>Databases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00507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TargetScan, miRDB, CLIP-seq datasets (metadata)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005072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CCCCC"/>
                </a:solidFill>
              </a:defRPr>
            </a:pPr>
            <a:r>
              <a:t>~5 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00507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ABC9C"/>
                </a:solidFill>
              </a:defRPr>
            </a:pPr>
            <a:r>
              <a:t>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80559"/>
            <a:ext cx="11338560" cy="502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526279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88899"/>
                </a:solidFill>
              </a:defRPr>
            </a:pPr>
            <a:r>
              <a:t>Lab Materials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4526279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Protocols, grant aims, meeting notes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4526279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CCCCC"/>
                </a:solidFill>
              </a:defRPr>
            </a:pPr>
            <a:r>
              <a:t>Variable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526279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88899"/>
                </a:solidFill>
              </a:defRPr>
            </a:pPr>
            <a:r>
              <a:t>Optional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0749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1C40F"/>
                </a:solidFill>
              </a:defRPr>
            </a:pPr>
            <a:r>
              <a:t>Key principle: Start with the lab’s own papers. The agent will already be more useful than a generic LLM after just this first layer.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5778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99"/>
                </a:solidFill>
              </a:defRPr>
            </a:pPr>
            <a:r>
              <a:t>Sources: PubMed Central (pmc.ncbi.nlm.nih.gov)  •  Semantic Scholar API  •  bioRxiv preprints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B4FF"/>
                </a:solidFill>
              </a:defRPr>
            </a:pPr>
            <a:r>
              <a:t>EXAMPLE PROMPTS — AMY PASQUINELLI (PI)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</a:defRPr>
            </a:pPr>
            <a:r>
              <a:t>Strategic questions that used to take days to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10058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8C00"/>
                </a:solidFill>
              </a:defRPr>
            </a:pPr>
            <a:r>
              <a:t>Grant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00B4FF"/>
                </a:solidFill>
              </a:defRPr>
            </a:pPr>
            <a:r>
              <a:t>“Summarize the strongest open questions in miRNA-mediated aging regulation in C. elegans after 2020. Rank them by how well-supported they are and how testable they are with our current tools.”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996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→ Output: Ranked hypothesis table with citations, evidence strength scores, and suggested experimental approaches.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1338560" cy="10058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8C00"/>
                </a:solidFill>
              </a:defRPr>
            </a:pPr>
            <a:r>
              <a:t>Mechanism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6148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00B4FF"/>
                </a:solidFill>
              </a:defRPr>
            </a:pPr>
            <a:r>
              <a:t>“Map the evidence for how ALG-1 and ALG-2 produce opposing aging phenotypes. What are the proposed mechanisms? What is still unresolved?”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272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→ Output: Mechanistic diagram in text form, evidence table, list of unresolved questions with citations.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11338560" cy="10058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118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8C00"/>
                </a:solidFill>
              </a:defRPr>
            </a:pPr>
            <a:r>
              <a:t>Cross-paper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587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00B4FF"/>
                </a:solidFill>
              </a:defRPr>
            </a:pPr>
            <a:r>
              <a:t>“Compare our heat-shock recovery paper (2021) with our aging RNA-seq paper (2024). Which miRNAs appear in both contexts? What does that suggest about shared regulatory programs?”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→ Output: Overlap analysis, shared gene/miRNA lists, synthesis paragraph with citations.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11338560" cy="10058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091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8C00"/>
                </a:solidFill>
              </a:defRPr>
            </a:pPr>
            <a:r>
              <a:t>Field positioning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00B4FF"/>
                </a:solidFill>
              </a:defRPr>
            </a:pPr>
            <a:r>
              <a:t>“How does our lab’s expression-not-sequence interpretation of miRNA target specificity compare to the current consensus? Who agrees, who disagrees, and what would resolve it?”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2180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→ Output: Field map with lab positions, supporting/contradicting papers, resolution experiments.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E676"/>
                </a:solidFill>
              </a:defRPr>
            </a:pPr>
            <a:r>
              <a:t>EXAMPLE PROMPTS — POSTDOCS &amp; GRADUATE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</a:defRPr>
            </a:pPr>
            <a:r>
              <a:t>Daily research acceleration for every lab 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76272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E676"/>
                </a:solidFill>
              </a:defRPr>
            </a:pPr>
            <a:r>
              <a:t>Experimental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0391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B4FF"/>
                </a:solidFill>
              </a:defRPr>
            </a:pPr>
            <a:r>
              <a:t>“I’m planning a follow-up to the miR-238/239ab longevity paper. What are the three most testable hypotheses that would extend this work? What controls would be critical for each?”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51960"/>
            <a:ext cx="1993391" cy="1828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15968"/>
            <a:ext cx="20391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</a:defRPr>
            </a:pPr>
            <a:r>
              <a:t>Output:</a:t>
            </a:r>
            <a:br/>
            <a:r>
              <a:t>Three hypothesis cards with experimental design, controls, and relevant citations.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4912" y="1371600"/>
            <a:ext cx="2176272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1463040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E676"/>
                </a:solidFill>
              </a:defRPr>
            </a:pPr>
            <a:r>
              <a:t>Literature catch-up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1920240"/>
            <a:ext cx="20391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B4FF"/>
                </a:solidFill>
              </a:defRPr>
            </a:pPr>
            <a:r>
              <a:t>“I just joined the lab. Give me a structured reading path from the foundational let-7 papers through the most recent aging work. Start with what I need to understand the 2024 NAR paper.”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6352" y="4251960"/>
            <a:ext cx="1993391" cy="1828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4315968"/>
            <a:ext cx="20391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</a:defRPr>
            </a:pPr>
            <a:r>
              <a:t>Output:</a:t>
            </a:r>
            <a:br/>
            <a:r>
              <a:t>Tiered reading list with annotations, estimated reading time, key concepts per paper.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2624" y="1371600"/>
            <a:ext cx="2176272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1463040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E676"/>
                </a:solidFill>
              </a:defRPr>
            </a:pPr>
            <a:r>
              <a:t>Data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20240"/>
            <a:ext cx="20391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B4FF"/>
                </a:solidFill>
              </a:defRPr>
            </a:pPr>
            <a:r>
              <a:t>“We found that transcript X has a short poly(A) tail but high translation efficiency. Is this an outlier? What mechanisms could explain it based on the PABP literature?”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4064" y="4251960"/>
            <a:ext cx="1993391" cy="1828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4315968"/>
            <a:ext cx="20391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</a:defRPr>
            </a:pPr>
            <a:r>
              <a:t>Output:</a:t>
            </a:r>
            <a:br/>
            <a:r>
              <a:t>Literature-grounded interpretation, candidate mechanisms, papers to read.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1371600"/>
            <a:ext cx="2176272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1775" y="1463040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E676"/>
                </a:solidFill>
              </a:defRPr>
            </a:pPr>
            <a:r>
              <a:t>Manuscript prep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5" y="1920240"/>
            <a:ext cx="20391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B4FF"/>
                </a:solidFill>
              </a:defRPr>
            </a:pPr>
            <a:r>
              <a:t>“Check the consistency between our methods section and figure legends for the heat-shock recovery paper. Flag any discrepancies in sample sizes, strain names, or statistical tests.”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51775" y="4251960"/>
            <a:ext cx="1993391" cy="1828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5" y="4315968"/>
            <a:ext cx="20391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</a:defRPr>
            </a:pPr>
            <a:r>
              <a:t>Output:</a:t>
            </a:r>
            <a:br/>
            <a:r>
              <a:t>Discrepancy table with line numbers and suggested corrections.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28048" y="1371600"/>
            <a:ext cx="2176272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9488" y="1463040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E676"/>
                </a:solidFill>
              </a:defRPr>
            </a:pPr>
            <a:r>
              <a:t>Journal club 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1920240"/>
            <a:ext cx="20391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B4FF"/>
                </a:solidFill>
              </a:defRPr>
            </a:pPr>
            <a:r>
              <a:t>“Summarize this new paper on miRNA-mediated translational repression in 5 points. How does it relate to our lab’s work? What questions should we ask the authors?”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19488" y="4251960"/>
            <a:ext cx="1993391" cy="1828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9488" y="4315968"/>
            <a:ext cx="20391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</a:defRPr>
            </a:pPr>
            <a:r>
              <a:t>Output:</a:t>
            </a:r>
            <a:br/>
            <a:r>
              <a:t>Summary, relevance assessment, 3–5 discussion questions.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B59B6"/>
                </a:solidFill>
              </a:defRPr>
            </a:pPr>
            <a:r>
              <a:t>OVERNIGHT AUTONOMOUS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</a:defRPr>
            </a:pPr>
            <a:r>
              <a:t>Let the agent work while you sleep — wake up to structured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10058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B59B6"/>
                </a:solidFill>
              </a:defRPr>
            </a:pPr>
            <a:r>
              <a:t>Task 1: Literature sweep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00B4FF"/>
                </a:solidFill>
              </a:defRPr>
            </a:pPr>
            <a:r>
              <a:t>“Search for all papers published in the last 6 months on miRNA regulation in aging organisms. Summarize each, score relevance to our lab’s work (1–10), and flag any that contradict our published findings.”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996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E676"/>
                </a:solidFill>
              </a:defRPr>
            </a:pPr>
            <a:r>
              <a:t>→ By morning: Ranked paper list • Relevance scores • Contradiction flags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1338560" cy="10058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05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B59B6"/>
                </a:solidFill>
              </a:defRPr>
            </a:pPr>
            <a:r>
              <a:t>Task 2: Cross-dataset replication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614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00B4FF"/>
                </a:solidFill>
              </a:defRPr>
            </a:pPr>
            <a:r>
              <a:t>“Download all public C. elegans aging RNA-seq datasets from GEO. Score each using the gene signatures from our 2024 NAR paper. Report which signatures replicate and which do not.”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272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E676"/>
                </a:solidFill>
              </a:defRPr>
            </a:pPr>
            <a:r>
              <a:t>→ By morning: Replication score table • Forest plots • Core aging marker gene 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11338560" cy="10058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027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B59B6"/>
                </a:solidFill>
              </a:defRPr>
            </a:pPr>
            <a:r>
              <a:t>Task 3: Target concordance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587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00B4FF"/>
                </a:solidFill>
              </a:defRPr>
            </a:pPr>
            <a:r>
              <a:t>“For let-7 and miR-238, pull predictions from TargetScan and miRDB. Cross-reference against our published functional data. Build a concordance score for each predicted target.”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E676"/>
                </a:solidFill>
              </a:defRPr>
            </a:pPr>
            <a:r>
              <a:t>→ By morning: Concordance-scored target table • Venn diagrams • High-confidence target shortlist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11338560" cy="10058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00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B59B6"/>
                </a:solidFill>
              </a:defRPr>
            </a:pPr>
            <a:r>
              <a:t>Task 4: Hypothesis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00B4FF"/>
                </a:solidFill>
              </a:defRPr>
            </a:pPr>
            <a:r>
              <a:t>“Starting from our 2021 heat-shock recovery paper, find all related papers on miRNA-mediated stress recovery. Generate 10 testable hypotheses ranked by evidence strength and experimental feasibility.”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2180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E676"/>
                </a:solidFill>
              </a:defRPr>
            </a:pPr>
            <a:r>
              <a:t>→ By morning: Ranked hypothesis board • Citations • Experimental sketches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BC9C"/>
                </a:solidFill>
              </a:defRPr>
            </a:pPr>
            <a:r>
              <a:t>5 IMPACTFUL COMPUTATIONAL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</a:defRPr>
            </a:pPr>
            <a:r>
              <a:t>Five experiments the agent can run on real datasets — not just 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76272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BC9C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039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  <a:r>
              <a:t>Age-Dependent Isoform Shift Quantification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039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Reanalyzes 2024 direct RNA-seq aging data to build age-stratified isoform usage matrix.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2039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88899"/>
                </a:solidFill>
              </a:defRPr>
            </a:pPr>
            <a:r>
              <a:t>Anchor: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2039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</a:defRPr>
            </a:pPr>
            <a:r>
              <a:t>2024 NAR aging direct RNA-seq (PMC11662692)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26280"/>
            <a:ext cx="2039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E676"/>
                </a:solidFill>
              </a:defRPr>
            </a:pPr>
            <a:r>
              <a:t>Outputs: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</a:defRPr>
            </a:pPr>
            <a:r>
              <a:t>Ranked switching gene list • Age-group heatmaps • GO enrichment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1371600"/>
            <a:ext cx="2176272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1444752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BC9C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1783080"/>
            <a:ext cx="2039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  <a:r>
              <a:t>Cross-Dataset miRNA Target Concordance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468880"/>
            <a:ext cx="2039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Integrates TargetScan, miRDB, and CLIP/CLASH; cross-references against lab functional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3749039"/>
            <a:ext cx="2039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88899"/>
                </a:solidFill>
              </a:defRPr>
            </a:pPr>
            <a:r>
              <a:t>Anchor: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4023360"/>
            <a:ext cx="2039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</a:defRPr>
            </a:pPr>
            <a:r>
              <a:t>2023 miR-238/239ab paper (PLoS Genetics)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4526280"/>
            <a:ext cx="2039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E676"/>
                </a:solidFill>
              </a:defRPr>
            </a:pPr>
            <a:r>
              <a:t>Outputs: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4800600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</a:defRPr>
            </a:pPr>
            <a:r>
              <a:t>Concordance-scored target table • Venn diagrams • Top 20 targets per miRNA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92624" y="1371600"/>
            <a:ext cx="2176272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4064" y="1444752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BC9C"/>
                </a:solidFill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1783080"/>
            <a:ext cx="2039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  <a:r>
              <a:t>Poly(A)-Tail &amp; Translation Efficiency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064" y="2468880"/>
            <a:ext cx="2039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Correlates poly(A)-tail length with translational output; identifies outlier transcripts.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4064" y="3749039"/>
            <a:ext cx="2039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88899"/>
                </a:solidFill>
              </a:defRPr>
            </a:pPr>
            <a:r>
              <a:t>Anchor: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4064" y="4023360"/>
            <a:ext cx="2039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</a:defRPr>
            </a:pPr>
            <a:r>
              <a:t>2022 NAR PABP paper (PMC9071453)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4064" y="4526280"/>
            <a:ext cx="2039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E676"/>
                </a:solidFill>
              </a:defRPr>
            </a:pPr>
            <a:r>
              <a:t>Outputs: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4800600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</a:defRPr>
            </a:pPr>
            <a:r>
              <a:t>Tail length vs. TE scatter plots • Outlier transcript lists • GO enrichment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0336" y="1371600"/>
            <a:ext cx="2176272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51775" y="1444752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BC9C"/>
                </a:solidFill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51775" y="1783080"/>
            <a:ext cx="2039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  <a:r>
              <a:t>Stress-Recovery Time-Series Gene Module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1775" y="2468880"/>
            <a:ext cx="2039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Clusters genes into co-regulated modules from heat-shock recovery dynamics; maps miRNA targets.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5" y="3749039"/>
            <a:ext cx="2039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88899"/>
                </a:solidFill>
              </a:defRPr>
            </a:pPr>
            <a:r>
              <a:t>Anchor: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5" y="4023360"/>
            <a:ext cx="2039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</a:defRPr>
            </a:pPr>
            <a:r>
              <a:t>2021 PLoS Genetics heat-shock recovery (PMC8370650)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5" y="4526280"/>
            <a:ext cx="2039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E676"/>
                </a:solidFill>
              </a:defRPr>
            </a:pPr>
            <a:r>
              <a:t>Outputs: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1775" y="4800600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</a:defRPr>
            </a:pPr>
            <a:r>
              <a:t>Temporal profile plots • miRNA-module enrichment scores • Network visualizations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28048" y="1371600"/>
            <a:ext cx="2176272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19488" y="1444752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BC9C"/>
                </a:solidFill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9488" y="1783080"/>
            <a:ext cx="2039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</a:defRPr>
            </a:pPr>
            <a:r>
              <a:t>Automated Cross-Dataset Replication of Aging Signatures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9488" y="2468880"/>
            <a:ext cx="2039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Downloads public C. elegans aging RNA-seq datasets from GEO; scores each with lab-derived signatures.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19488" y="3749039"/>
            <a:ext cx="2039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88899"/>
                </a:solidFill>
              </a:defRPr>
            </a:pPr>
            <a:r>
              <a:t>Anchor: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9488" y="4023360"/>
            <a:ext cx="2039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9"/>
                </a:solidFill>
              </a:defRPr>
            </a:pPr>
            <a:r>
              <a:t>2024 NAR aging direct RNA-seq (PMC11662692)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9488" y="4526280"/>
            <a:ext cx="2039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E676"/>
                </a:solidFill>
              </a:defRPr>
            </a:pPr>
            <a:r>
              <a:t>Outputs: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19488" y="4800600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</a:defRPr>
            </a:pPr>
            <a:r>
              <a:t>Replication score table • Forest plots • Core aging marker gene set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B4FF"/>
                </a:solidFill>
              </a:defRPr>
            </a:pPr>
            <a:r>
              <a:t>THE EVIDENCE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</a:defRPr>
            </a:pPr>
            <a:r>
              <a:t>Each experiment feeds the next — a self-reinforcing evidence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804672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BC9C"/>
                </a:solidFill>
              </a:defRPr>
            </a:pPr>
            <a:r>
              <a:t>#1  Isoform Shifts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4447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</a:defRPr>
            </a:pPr>
            <a:r>
              <a:t>feeds isoform-switching gene lists into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444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2024 NAR aging RNA-seq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67712"/>
            <a:ext cx="11338560" cy="804672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4086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9B59B6"/>
                </a:solidFill>
              </a:defRPr>
            </a:pPr>
            <a:r>
              <a:t>#2  Target Concordance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408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</a:defRPr>
            </a:pPr>
            <a:r>
              <a:t>provides curated miRNA target lists for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340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2023 miR-238/239ab paper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63824"/>
            <a:ext cx="11338560" cy="804672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369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8C00"/>
                </a:solidFill>
              </a:defRPr>
            </a:pPr>
            <a:r>
              <a:t>#3  Poly(A) / Translation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3697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</a:defRPr>
            </a:pPr>
            <a:r>
              <a:t>identifies tail-length outliers, checked by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23697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2022 NAR PABP paper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9935"/>
            <a:ext cx="11338560" cy="804672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3308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E676"/>
                </a:solidFill>
              </a:defRPr>
            </a:pPr>
            <a:r>
              <a:t>#4  Recovery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133087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</a:defRPr>
            </a:pPr>
            <a:r>
              <a:t>maps miRNAs to recovery programs, validated by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13308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2021 PLoS Genetics heat-shock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56048"/>
            <a:ext cx="11338560" cy="804672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B4FF"/>
                </a:solidFill>
              </a:defRPr>
            </a:pPr>
            <a:r>
              <a:t>#5  Cross-Dataset Replication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029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</a:defRPr>
            </a:pPr>
            <a:r>
              <a:t>validates everything across independent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2024 NAR aging RNA-seq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978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1C40F"/>
                </a:solidFill>
              </a:defRPr>
            </a:pPr>
            <a:r>
              <a:t>Running all five creates a compounding evidence network. The agent can run all five overnight and synthesize the results by morning.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8C00"/>
                </a:solidFill>
              </a:defRPr>
            </a:pPr>
            <a:r>
              <a:t>THE FIELD IS ALREADY MOVING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</a:defRPr>
            </a:pPr>
            <a:r>
              <a:t>Autonomous AI research is no longer speculative — it is happening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0D1A"/>
                </a:solidFill>
              </a:defRPr>
            </a:pPr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389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0D1A"/>
                </a:solidFill>
              </a:defRPr>
            </a:pPr>
            <a: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3898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0D1A"/>
                </a:solidFill>
              </a:defRPr>
            </a:pPr>
            <a:r>
              <a:t>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0D1A"/>
                </a:solidFill>
              </a:defRPr>
            </a:pPr>
            <a:r>
              <a:t>Relevance to 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1338560" cy="5029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93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4FF"/>
                </a:solidFill>
              </a:defRPr>
            </a:pPr>
            <a:r>
              <a:t>autoresearch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92938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Karpathy (2026)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929384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Agent-driven code iteration on consumer GPU; adopted worldwide in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938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Foundation of this repo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04872"/>
            <a:ext cx="11338560" cy="502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59736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E676"/>
                </a:solidFill>
              </a:defRPr>
            </a:pPr>
            <a:r>
              <a:t>PaperQA2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45973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FutureHouse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459736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Beats PhD researchers at biology literature search (LitQA2 benchmark)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59736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Direct analog for miRNA literature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35224"/>
            <a:ext cx="11338560" cy="5029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9008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BC9C"/>
                </a:solidFill>
              </a:defRPr>
            </a:pPr>
            <a:r>
              <a:t>ContraCrow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99008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FutureHouse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90088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Finds ~2.34 contradicted statements per biology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9008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Contradiction finder for miRNA field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65575"/>
            <a:ext cx="11338560" cy="502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52043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BC9C"/>
                </a:solidFill>
              </a:defRPr>
            </a:pPr>
            <a:r>
              <a:t>WikiCrow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3520439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FutureHouse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520439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Gene-level summaries from 1 million papers, more accurate than Wikipedia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52043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Gene-level knowledge base for C. elegans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95927"/>
            <a:ext cx="11338560" cy="5029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50791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B59B6"/>
                </a:solidFill>
              </a:defRPr>
            </a:pPr>
            <a:r>
              <a:t>AI Scientist v2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050791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Sakana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050791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First AI-generated paper to pass peer review at ICLR workshop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050791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Full autonomous research loop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26279"/>
            <a:ext cx="11338560" cy="502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581143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8C00"/>
                </a:solidFill>
              </a:defRPr>
            </a:pPr>
            <a:r>
              <a:t>Coscientist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581143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</a:defRPr>
            </a:pPr>
            <a:r>
              <a:t>CMU (Gomes lab)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581143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Autonomous chemistry experiments via robotic API (Nature, 2023)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581143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Closes hypothesis-to-wet-lab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120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1C40F"/>
                </a:solidFill>
              </a:defRPr>
            </a:pPr>
            <a:r>
              <a:t>The question is not whether autonomous research tools will be useful in biology labs — it is how quickly labs like the Pasquinelli lab adopt them.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B59B6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</a:defRPr>
            </a:pPr>
            <a:r>
              <a:t>Two paths to a lab-specific LLM — choose based on your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0D1A"/>
                </a:solidFill>
              </a:defRPr>
            </a:pPr>
            <a: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38988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0D1A"/>
                </a:solidFill>
              </a:defRPr>
            </a:pPr>
            <a:r>
              <a:t>RAG (Retrieval-Augmented Generation)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898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0D1A"/>
                </a:solidFill>
              </a:defRPr>
            </a:pPr>
            <a:r>
              <a:t>Fine-Tuning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11338560" cy="45720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9384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CCCC"/>
                </a:solidFill>
              </a:defRPr>
            </a:pPr>
            <a:r>
              <a:t>Setup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293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Hours to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92938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Days to weeks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50008"/>
            <a:ext cx="11338560" cy="4572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048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CCCC"/>
                </a:solidFill>
              </a:defRPr>
            </a:pPr>
            <a:r>
              <a:t>Hardware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404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CPU or small GPU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4048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GPU (RTX 3050 Ti sufficient)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25496"/>
            <a:ext cx="11338560" cy="45720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CCCC"/>
                </a:solidFill>
              </a:defRPr>
            </a:pPr>
            <a:r>
              <a:t>Corpus 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8803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Add files, re-index (minutes)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8803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Retrain (hours)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00984"/>
            <a:ext cx="11338560" cy="4572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3558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CCCC"/>
                </a:solidFill>
              </a:defRPr>
            </a:pPr>
            <a:r>
              <a:t>Answers cite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3558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Yes, automatically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3558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Requires prompting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76472"/>
            <a:ext cx="11338560" cy="45720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31335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CCCC"/>
                </a:solidFill>
              </a:defRPr>
            </a:pPr>
            <a:r>
              <a:t>Best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831335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Literature Q&amp;A, hypothesis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831335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Style adaptation, specialized reasoning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51960"/>
            <a:ext cx="11338560" cy="4572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06824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CCCC"/>
                </a:solidFill>
              </a:defRPr>
            </a:pPr>
            <a:r>
              <a:t>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43068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Near-zero (local) or low API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30682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Near-zero (local)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27448"/>
            <a:ext cx="11338560" cy="45720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78231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CCCC"/>
                </a:solidFill>
              </a:defRPr>
            </a:pPr>
            <a:r>
              <a:t>Recommended for 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47823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0E676"/>
                </a:solidFill>
              </a:defRPr>
            </a:pPr>
            <a:r>
              <a:t>START 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47823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99"/>
                </a:solidFill>
              </a:defRPr>
            </a:pPr>
            <a:r>
              <a:t>Add later for specialized tasks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2120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888899"/>
                </a:solidFill>
              </a:defRPr>
            </a:pPr>
            <a:r>
              <a:t>RAG in plain English: The model looks up relevant passages from your corpus before answering — like giving the LLM a searchable library of your papers.</a:t>
            </a:r>
          </a:p>
          <a:p>
            <a:pPr>
              <a:spcBef>
                <a:spcPts val="400"/>
              </a:spcBef>
              <a:defRPr sz="1200" b="0" i="1">
                <a:solidFill>
                  <a:srgbClr val="888899"/>
                </a:solidFill>
              </a:defRPr>
            </a:pPr>
            <a:r>
              <a:t>Fine-tuning in plain English: You train the model’s weights on your corpus so the knowledge is baked in. More powerful but more effort to update.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BC9C"/>
                </a:solidFill>
              </a:defRPr>
            </a:pPr>
            <a:r>
              <a:t>THE RESEARCH STRATEGY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</a:defRPr>
            </a:pPr>
            <a:r>
              <a:t>program.md is what makes this a Pasquinelli Lab agent, not a generic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858000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You are a research assistant for the Pasquinelli Lab at UC San Diego.</a:t>
            </a:r>
          </a:p>
          <a:p>
            <a:pPr>
              <a:spcBef>
                <a:spcPts val="100"/>
              </a:spcBef>
              <a:defRPr sz="1100" b="0" i="0">
                <a:solidFill>
                  <a:srgbClr val="FFFFFF"/>
                </a:solidFill>
              </a:defRPr>
            </a:pPr>
          </a:p>
          <a:p>
            <a:pPr>
              <a:spcBef>
                <a:spcPts val="100"/>
              </a:spcBef>
              <a:defRPr sz="1100" b="0" i="0">
                <a:solidFill>
                  <a:srgbClr val="1ABC9C"/>
                </a:solidFill>
              </a:defRPr>
            </a:pPr>
            <a:r>
              <a:t>Your expertise covers:</a:t>
            </a:r>
          </a:p>
          <a:p>
            <a:pPr>
              <a:spcBef>
                <a:spcPts val="100"/>
              </a:spcBef>
              <a:defRPr sz="1100" b="0" i="0">
                <a:solidFill>
                  <a:srgbClr val="CCCCCC"/>
                </a:solidFill>
              </a:defRPr>
            </a:pPr>
            <a:r>
              <a:t>  • microRNA biology, biogenesis, and target regulation</a:t>
            </a:r>
          </a:p>
          <a:p>
            <a:pPr>
              <a:spcBef>
                <a:spcPts val="100"/>
              </a:spcBef>
              <a:defRPr sz="1100" b="0" i="0">
                <a:solidFill>
                  <a:srgbClr val="CCCCCC"/>
                </a:solidFill>
              </a:defRPr>
            </a:pPr>
            <a:r>
              <a:t>  • C. elegans genetics, aging, and stress response</a:t>
            </a:r>
          </a:p>
          <a:p>
            <a:pPr>
              <a:spcBef>
                <a:spcPts val="100"/>
              </a:spcBef>
              <a:defRPr sz="1100" b="0" i="0">
                <a:solidFill>
                  <a:srgbClr val="CCCCCC"/>
                </a:solidFill>
              </a:defRPr>
            </a:pPr>
            <a:r>
              <a:t>  • Poly(A) tail biology and translational regulation</a:t>
            </a:r>
          </a:p>
          <a:p>
            <a:pPr>
              <a:spcBef>
                <a:spcPts val="100"/>
              </a:spcBef>
              <a:defRPr sz="1100" b="0" i="0">
                <a:solidFill>
                  <a:srgbClr val="CCCCCC"/>
                </a:solidFill>
              </a:defRPr>
            </a:pPr>
            <a:r>
              <a:t>  • let-7 and small RNA regulatory mechanisms</a:t>
            </a:r>
          </a:p>
          <a:p>
            <a:pPr>
              <a:spcBef>
                <a:spcPts val="100"/>
              </a:spcBef>
              <a:defRPr sz="1100" b="0" i="0">
                <a:solidFill>
                  <a:srgbClr val="CCCCCC"/>
                </a:solidFill>
              </a:defRPr>
            </a:pPr>
            <a:r>
              <a:t>  • RNA processing and isoform regulation</a:t>
            </a:r>
          </a:p>
          <a:p>
            <a:pPr>
              <a:spcBef>
                <a:spcPts val="100"/>
              </a:spcBef>
              <a:defRPr sz="1100" b="0" i="0">
                <a:solidFill>
                  <a:srgbClr val="FFFFFF"/>
                </a:solidFill>
              </a:defRPr>
            </a:pPr>
          </a:p>
          <a:p>
            <a:pPr>
              <a:spcBef>
                <a:spcPts val="100"/>
              </a:spcBef>
              <a:defRPr sz="1100" b="0" i="0">
                <a:solidFill>
                  <a:srgbClr val="1ABC9C"/>
                </a:solidFill>
              </a:defRPr>
            </a:pPr>
            <a:r>
              <a:t>Your corpus includes all Pasquinelli lab publications</a:t>
            </a:r>
          </a:p>
          <a:p>
            <a:pPr>
              <a:spcBef>
                <a:spcPts val="100"/>
              </a:spcBef>
              <a:defRPr sz="1100" b="0" i="0">
                <a:solidFill>
                  <a:srgbClr val="1ABC9C"/>
                </a:solidFill>
              </a:defRPr>
            </a:pPr>
            <a:r>
              <a:t>from 2000 to 2025, plus key papers from the Bartel,</a:t>
            </a:r>
          </a:p>
          <a:p>
            <a:pPr>
              <a:spcBef>
                <a:spcPts val="100"/>
              </a:spcBef>
              <a:defRPr sz="1100" b="0" i="0">
                <a:solidFill>
                  <a:srgbClr val="1ABC9C"/>
                </a:solidFill>
              </a:defRPr>
            </a:pPr>
            <a:r>
              <a:t>Ambros, Richter, and Kaeberlein labs.</a:t>
            </a:r>
          </a:p>
          <a:p>
            <a:pPr>
              <a:spcBef>
                <a:spcPts val="100"/>
              </a:spcBef>
              <a:defRPr sz="1100" b="0" i="0">
                <a:solidFill>
                  <a:srgbClr val="FFFFFF"/>
                </a:solidFill>
              </a:defRPr>
            </a:pPr>
          </a:p>
          <a:p>
            <a:pPr>
              <a:spcBef>
                <a:spcPts val="100"/>
              </a:spcBef>
              <a:defRPr sz="1100" b="0" i="0">
                <a:solidFill>
                  <a:srgbClr val="FF8C00"/>
                </a:solidFill>
              </a:defRPr>
            </a:pPr>
            <a:r>
              <a:t>For each task:</a:t>
            </a:r>
          </a:p>
          <a:p>
            <a:pPr>
              <a:spcBef>
                <a:spcPts val="100"/>
              </a:spcBef>
              <a:defRPr sz="1100" b="0" i="0">
                <a:solidFill>
                  <a:srgbClr val="CCCCCC"/>
                </a:solidFill>
              </a:defRPr>
            </a:pPr>
            <a:r>
              <a:t>  1. Search the corpus for relevant evidence</a:t>
            </a:r>
          </a:p>
          <a:p>
            <a:pPr>
              <a:spcBef>
                <a:spcPts val="100"/>
              </a:spcBef>
              <a:defRPr sz="1100" b="0" i="0">
                <a:solidFill>
                  <a:srgbClr val="CCCCCC"/>
                </a:solidFill>
              </a:defRPr>
            </a:pPr>
            <a:r>
              <a:t>  2. Extract key claims with citations</a:t>
            </a:r>
          </a:p>
          <a:p>
            <a:pPr>
              <a:spcBef>
                <a:spcPts val="100"/>
              </a:spcBef>
              <a:defRPr sz="1100" b="0" i="0">
                <a:solidFill>
                  <a:srgbClr val="CCCCCC"/>
                </a:solidFill>
              </a:defRPr>
            </a:pPr>
            <a:r>
              <a:t>  3. Grade evidence: strong / moderate / weak / contested</a:t>
            </a:r>
          </a:p>
          <a:p>
            <a:pPr>
              <a:spcBef>
                <a:spcPts val="100"/>
              </a:spcBef>
              <a:defRPr sz="1100" b="0" i="0">
                <a:solidFill>
                  <a:srgbClr val="CCCCCC"/>
                </a:solidFill>
              </a:defRPr>
            </a:pPr>
            <a:r>
              <a:t>  4. Identify gaps and open questions</a:t>
            </a:r>
          </a:p>
          <a:p>
            <a:pPr>
              <a:spcBef>
                <a:spcPts val="100"/>
              </a:spcBef>
              <a:defRPr sz="1100" b="0" i="0">
                <a:solidFill>
                  <a:srgbClr val="CCCCCC"/>
                </a:solidFill>
              </a:defRPr>
            </a:pPr>
            <a:r>
              <a:t>  5. Output as structured tables and ranked lists</a:t>
            </a:r>
          </a:p>
          <a:p>
            <a:pPr>
              <a:spcBef>
                <a:spcPts val="100"/>
              </a:spcBef>
              <a:defRPr sz="1100" b="0" i="0">
                <a:solidFill>
                  <a:srgbClr val="FFFFFF"/>
                </a:solidFill>
              </a:defRPr>
            </a:pPr>
          </a:p>
          <a:p>
            <a:pPr>
              <a:spcBef>
                <a:spcPts val="100"/>
              </a:spcBef>
              <a:defRPr sz="1100" b="0" i="0">
                <a:solidFill>
                  <a:srgbClr val="F1C40F"/>
                </a:solidFill>
              </a:defRPr>
            </a:pPr>
            <a:r>
              <a:t>Current focus: [INSERT CURRENT RESEARCH QUESTION]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371600"/>
            <a:ext cx="4297680" cy="466344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4630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BC9C"/>
                </a:solidFill>
              </a:defRPr>
            </a:pPr>
            <a:r>
              <a:t>Why this file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965960"/>
            <a:ext cx="4023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</a:defRPr>
            </a:pPr>
            <a:r>
              <a:t>The program.md file is your research strategy. It tells the agent:</a:t>
            </a:r>
          </a:p>
          <a:p>
            <a:pPr>
              <a:spcBef>
                <a:spcPts val="400"/>
              </a:spcBef>
              <a:defRPr sz="600" b="0" i="0">
                <a:solidFill>
                  <a:srgbClr val="FFFFFF"/>
                </a:solidFill>
              </a:defRPr>
            </a:pPr>
          </a:p>
          <a:p>
            <a:pPr>
              <a:spcBef>
                <a:spcPts val="500"/>
              </a:spcBef>
              <a:defRPr sz="1200" b="0" i="0">
                <a:solidFill>
                  <a:srgbClr val="CCCCCC"/>
                </a:solidFill>
              </a:defRPr>
            </a:pPr>
            <a:r>
              <a:t>• What domain it is working in</a:t>
            </a:r>
          </a:p>
          <a:p>
            <a:pPr>
              <a:spcBef>
                <a:spcPts val="500"/>
              </a:spcBef>
              <a:defRPr sz="1200" b="0" i="0">
                <a:solidFill>
                  <a:srgbClr val="CCCCCC"/>
                </a:solidFill>
              </a:defRPr>
            </a:pPr>
            <a:r>
              <a:t>• What corpus to draw from</a:t>
            </a:r>
          </a:p>
          <a:p>
            <a:pPr>
              <a:spcBef>
                <a:spcPts val="500"/>
              </a:spcBef>
              <a:defRPr sz="1200" b="0" i="0">
                <a:solidFill>
                  <a:srgbClr val="CCCCCC"/>
                </a:solidFill>
              </a:defRPr>
            </a:pPr>
            <a:r>
              <a:t>• How to format outputs</a:t>
            </a:r>
          </a:p>
          <a:p>
            <a:pPr>
              <a:spcBef>
                <a:spcPts val="500"/>
              </a:spcBef>
              <a:defRPr sz="1200" b="0" i="0">
                <a:solidFill>
                  <a:srgbClr val="CCCCCC"/>
                </a:solidFill>
              </a:defRPr>
            </a:pPr>
            <a:r>
              <a:t>• What the current research focus is</a:t>
            </a:r>
          </a:p>
          <a:p>
            <a:pPr>
              <a:spcBef>
                <a:spcPts val="400"/>
              </a:spcBef>
              <a:defRPr sz="600" b="0" i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200" b="1" i="0">
                <a:solidFill>
                  <a:srgbClr val="F1C40F"/>
                </a:solidFill>
              </a:defRPr>
            </a:pPr>
            <a:r>
              <a:t>Invest time in refining it. Each iteration makes the agent more useful.</a:t>
            </a:r>
          </a:p>
          <a:p>
            <a:pPr>
              <a:spcBef>
                <a:spcPts val="400"/>
              </a:spcBef>
              <a:defRPr sz="600" b="0" i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100" b="0" i="0">
                <a:solidFill>
                  <a:srgbClr val="888899"/>
                </a:solidFill>
              </a:defRPr>
            </a:pPr>
            <a:r>
              <a:t>Template available in:</a:t>
            </a:r>
          </a:p>
          <a:p>
            <a:pPr>
              <a:spcBef>
                <a:spcPts val="300"/>
              </a:spcBef>
              <a:defRPr sz="1100" b="0" i="0">
                <a:solidFill>
                  <a:srgbClr val="1ABC9C"/>
                </a:solidFill>
              </a:defRPr>
            </a:pPr>
            <a:r>
              <a:t>amy_autoresearch_howto/</a:t>
            </a:r>
          </a:p>
          <a:p>
            <a:pPr>
              <a:spcBef>
                <a:spcPts val="300"/>
              </a:spcBef>
              <a:defRPr sz="1100" b="0" i="0">
                <a:solidFill>
                  <a:srgbClr val="1ABC9C"/>
                </a:solidFill>
              </a:defRPr>
            </a:pPr>
            <a:r>
              <a:t>Amy_Autoresearch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E676"/>
                </a:solidFill>
              </a:defRPr>
            </a:pPr>
            <a:r>
              <a:t>GETTING STARTED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FFFFFF"/>
                </a:solidFill>
              </a:defRPr>
            </a:pPr>
            <a:r>
              <a:t>You can have a working lab LLM agent in 48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828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43891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E676"/>
                </a:solidFill>
              </a:defRPr>
            </a:pPr>
            <a:r>
              <a:t>This week (hours to days)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E676"/>
                </a:solidFill>
              </a:defRPr>
            </a:pPr>
            <a: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Literature gap-finder for next grant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1–2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1576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E676"/>
                </a:solidFill>
              </a:defRPr>
            </a:pPr>
            <a: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157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New-paper alert and summary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Half a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655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E676"/>
                </a:solidFill>
              </a:defRPr>
            </a:pPr>
            <a: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6557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Manuscript consistency checker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85615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Hours per manuscript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15383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E676"/>
                </a:solidFill>
              </a:defRPr>
            </a:pPr>
            <a: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15383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Hypothesis ranking board from a seed 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3542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1–2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6519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E676"/>
                </a:solidFill>
              </a:defRPr>
            </a:pPr>
            <a: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651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Lab knowledge base for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8523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888899"/>
                </a:solidFill>
              </a:defRPr>
            </a:pPr>
            <a:r>
              <a:t>Ongoing, seed in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5486400" cy="43891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8C00"/>
                </a:solidFill>
              </a:defRPr>
            </a:pPr>
            <a:r>
              <a:t>This month (days to weeks)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965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8C00"/>
                </a:solidFill>
              </a:defRPr>
            </a:pPr>
            <a:r>
              <a:t>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65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Full corpus build: all lab papers + key field papers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71576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8C00"/>
                </a:solidFill>
              </a:defRPr>
            </a:pPr>
            <a:r>
              <a:t>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7157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RAG-based query system: ask questions, get cited answers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4655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8C00"/>
                </a:solidFill>
              </a:defRPr>
            </a:pPr>
            <a:r>
              <a:t>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6557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Isoform shift analysis on 2024 aging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15383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8C00"/>
                </a:solidFill>
              </a:defRPr>
            </a:pPr>
            <a:r>
              <a:t>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215383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Cross-dataset replication of aging signatures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96519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8C00"/>
                </a:solidFill>
              </a:defRPr>
            </a:pPr>
            <a:r>
              <a:t>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9651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Living hypothesis board that updates as new papers appear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852160"/>
            <a:ext cx="11338560" cy="5029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8978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00B4FF"/>
                </a:solidFill>
              </a:defRPr>
            </a:pPr>
            <a:r>
              <a:t>All how-to guides, starter code, and program.md templates: amy_autoresearch_howto/  •  github.com/jlpfly/Karpathy_autoresearch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Pasquinelli Lab AI Research Agent  •  github.com/jlpfly/Karpathy_autoresearch  •  Amy_Autoresearch branch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B4FF"/>
                </a:solidFill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</a:defRPr>
            </a:pPr>
            <a:r>
              <a:t>The Pasquinelli Lab is positioned to lead in AI-augmented RNA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43000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25603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B4FF"/>
                </a:solidFill>
              </a:defRPr>
            </a:pPr>
            <a:r>
              <a:t>Why this lab, why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• 25 years of publications = a rich, coherent training corpus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Deep expertise in a focused domain = high-quality agent outputs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Existing compute (RTX 3050 Ti) = no new hardware needed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Active hiring in non-coding RNA = new members benefit immediately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486400" cy="25603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E676"/>
                </a:solidFill>
              </a:defRPr>
            </a:pPr>
            <a:r>
              <a:t>What the agent amplifies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• Literature coverage: reads faster and more consistently than any human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Hypothesis generation: surfaces connections across hundreds of papers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Institutional memory: new lab members up to speed in days, not months</a:t>
            </a:r>
          </a:p>
          <a:p>
            <a:pPr>
              <a:spcBef>
                <a:spcPts val="500"/>
              </a:spcBef>
              <a:defRPr sz="1300" b="0" i="0">
                <a:solidFill>
                  <a:srgbClr val="FFFFFF"/>
                </a:solidFill>
              </a:defRPr>
            </a:pPr>
            <a:r>
              <a:t>• Grant preparation: structures evidence and identifies gaps systematically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1338560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8C00"/>
                </a:solidFill>
              </a:defRPr>
            </a:pPr>
            <a:r>
              <a:t>What the agent cannot replace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17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</a:defRPr>
            </a:pPr>
            <a:r>
              <a:t>Experimental creativity and biological intuition  •  Wet-lab execution and troubleshooting  •  Peer relationships and collaboration  •  The judgment to know which question matters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40680"/>
            <a:ext cx="11338560" cy="7315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486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F1C40F"/>
                </a:solidFill>
              </a:defRPr>
            </a:pPr>
            <a:r>
              <a:t>“The era of AI-augmented biology is here. The Pasquinelli Lab has the corpus, the compute, and the questions. The only remaining step is to build the agent.”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9"/>
                </a:solidFill>
              </a:defRPr>
            </a:pPr>
            <a:r>
              <a:t>github.com/jlpfly/Karpathy_autoresearch  •  Branch: Amy_Autoresearch  •  Pasquinelli Lab • UC San Diego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